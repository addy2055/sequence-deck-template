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575cf19d-73d5-5abb-1ab3-0eb195ea753a}">
          <p14:sldIdLst>
            <p14:sldId id="256"/>
            <p14:sldId id="257"/>
          </p14:sldIdLst>
        </p14:section>
        <p14:section name="System" id="{bc18ffef-0ffe-0891-87c4-73da3664df09}">
          <p14:sldIdLst>
            <p14:sldId id="258"/>
            <p14:sldId id="259"/>
            <p14:sldId id="262"/>
            <p14:sldId id="263"/>
          </p14:sldIdLst>
        </p14:section>
        <p14:section name="Evidence" id="{f5ed09de-888d-3db6-f515-cc92e603fb62}">
          <p14:sldIdLst>
            <p14:sldId id="260"/>
            <p14:sldId id="261"/>
            <p14:sldId id="264"/>
          </p14:sldIdLst>
        </p14:section>
        <p14:section name="Close" id="{1dc6a4d7-8e3d-ac01-fde1-9bfbc0e59c2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per deck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6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34</c:v>
                </c:pt>
                <c:pt idx="2">
                  <c:v>23</c:v>
                </c:pt>
                <c:pt idx="3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6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61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12700" cap="flat">
              <a:solidFill>
                <a:srgbClr val="E2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3B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layout. Title and subtitle are placeholders; type over them and the styling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layout with a dark panel for a headline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Cards are composed on the title-only layout. The numbered token is the repeating motif.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layout. Three callouts is the comfortable maximum at this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PowerPoint chart — editable data, theme colours, body font via +mn-lt.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layout. The token motif from the cards repeats as the step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styling: ink header row, hairline rules, no vertical banding.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74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SEQUENCE</a:t>
            </a:r>
            <a:endParaRPr lang="en-US" sz="11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731520" y="2103120"/>
            <a:ext cx="9692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Presentation title goes here</a:t>
            </a:r>
            <a:endParaRPr lang="en-US" sz="54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731520" y="402336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Subtitle, audience and date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286000"/>
            <a:ext cx="1828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651760" y="228600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Section title</a:t>
            </a: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54480"/>
            <a:ext cx="6766560" cy="4389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Agenda items</a:t>
            </a: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54480"/>
            <a:ext cx="5303520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Left column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55080" y="1554480"/>
            <a:ext cx="5285232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Right column</a:t>
            </a:r>
            <a:endParaRPr lang="en-US" sz="16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_COMMENTAR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54480"/>
            <a:ext cx="7406640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Chart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321040" y="1554480"/>
            <a:ext cx="3319272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Commentary</a:t>
            </a:r>
            <a:endParaRPr lang="en-US" sz="14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RKFLO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36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Sequence presentation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9692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Closing statement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Next steps and contact</a:t>
            </a: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731520" y="2103120"/>
            <a:ext cx="969264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Sequence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731520" y="40233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A reusable presentation system — eleven layouts, one theme, everything editable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54480"/>
            <a:ext cx="67665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What the system is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Layouts and when to use each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Theme, colour and type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Charts and tables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How to extend it</a:t>
            </a:r>
            <a:endParaRPr lang="en-US" sz="1600" dirty="0"/>
          </a:p>
        </p:txBody>
      </p:sp>
      <p:sp>
        <p:nvSpPr>
          <p:cNvPr id="4" name="agenda-panel"/>
          <p:cNvSpPr/>
          <p:nvPr/>
        </p:nvSpPr>
        <p:spPr>
          <a:xfrm>
            <a:off x="7589520" y="1554480"/>
            <a:ext cx="4050792" cy="4389120"/>
          </a:xfrm>
          <a:prstGeom prst="roundRect">
            <a:avLst>
              <a:gd name="adj" fmla="val 1354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09560" y="19202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11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reusable layouts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909560" y="37490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Every layout carries its own placeholders, so new slides inherit position, weight and colour automatically.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2860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651760" y="2286000"/>
            <a:ext cx="8778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layout system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kinds of slide carry most decks</a:t>
            </a:r>
            <a:endParaRPr lang="en-US" sz="3600" dirty="0"/>
          </a:p>
        </p:txBody>
      </p:sp>
      <p:sp>
        <p:nvSpPr>
          <p:cNvPr id="3" name="card-01"/>
          <p:cNvSpPr/>
          <p:nvPr/>
        </p:nvSpPr>
        <p:spPr>
          <a:xfrm>
            <a:off x="548640" y="2194560"/>
            <a:ext cx="3566160" cy="301752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oken-01"/>
          <p:cNvSpPr/>
          <p:nvPr/>
        </p:nvSpPr>
        <p:spPr>
          <a:xfrm>
            <a:off x="868680" y="251460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Argue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204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claim in the title, evidence underneath. The title is the message, not a label for the contents.</a:t>
            </a:r>
            <a:endParaRPr lang="en-US" sz="1400" dirty="0"/>
          </a:p>
        </p:txBody>
      </p:sp>
      <p:sp>
        <p:nvSpPr>
          <p:cNvPr id="8" name="card-02"/>
          <p:cNvSpPr/>
          <p:nvPr/>
        </p:nvSpPr>
        <p:spPr>
          <a:xfrm>
            <a:off x="4315968" y="2194560"/>
            <a:ext cx="3566160" cy="301752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oken-02"/>
          <p:cNvSpPr/>
          <p:nvPr/>
        </p:nvSpPr>
        <p:spPr>
          <a:xfrm>
            <a:off x="4636008" y="251460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36008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Show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35204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chart or table with commentary beside it, so the reader knows what to look at before they look.</a:t>
            </a:r>
            <a:endParaRPr lang="en-US" sz="1400" dirty="0"/>
          </a:p>
        </p:txBody>
      </p:sp>
      <p:sp>
        <p:nvSpPr>
          <p:cNvPr id="13" name="card-03"/>
          <p:cNvSpPr/>
          <p:nvPr/>
        </p:nvSpPr>
        <p:spPr>
          <a:xfrm>
            <a:off x="8074152" y="2194560"/>
            <a:ext cx="3566160" cy="301752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oken-03"/>
          <p:cNvSpPr/>
          <p:nvPr/>
        </p:nvSpPr>
        <p:spPr>
          <a:xfrm>
            <a:off x="8394192" y="251460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94192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94192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Turn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35204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divider that resets attention between topics and tells the room where it 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Where deck time actually goes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2103120"/>
            <a:ext cx="3566160" cy="2926080"/>
          </a:xfrm>
          <a:prstGeom prst="roundRect">
            <a:avLst>
              <a:gd name="adj" fmla="val 1875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514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E7C7B"/>
                </a:solidFill>
              </a:rPr>
              <a:t>68%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947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slide time is spent on formatting, not thinking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4306824" y="2103120"/>
            <a:ext cx="3566160" cy="2926080"/>
          </a:xfrm>
          <a:prstGeom prst="roundRect">
            <a:avLst>
              <a:gd name="adj" fmla="val 1875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72584" y="2514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39B3C"/>
                </a:solidFill>
              </a:rPr>
              <a:t>4.2x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672584" y="37947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faster to produce when layouts carry the styling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8065008" y="2103120"/>
            <a:ext cx="3566160" cy="2926080"/>
          </a:xfrm>
          <a:prstGeom prst="roundRect">
            <a:avLst>
              <a:gd name="adj" fmla="val 1875"/>
            </a:avLst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30768" y="2514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E7C7B"/>
                </a:solidFill>
              </a:rPr>
              <a:t>1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430768" y="37947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theme file controls every colour in the deck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03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Figures are illustrative placeholders for the template demo.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Quarterly close effort falls as layouts take over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>
            <p:ph idx="101" type="body" hasCustomPrompt="1"/>
          </p:nvPr>
        </p:nvGraphicFramePr>
        <p:xfrm>
          <a:off x="548640" y="1554480"/>
          <a:ext cx="74066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0"/>
          <p:cNvSpPr/>
          <p:nvPr>
            <p:ph idx="102" type="body" hasCustomPrompt="1"/>
          </p:nvPr>
        </p:nvSpPr>
        <p:spPr>
          <a:xfrm>
            <a:off x="8321040" y="1554480"/>
            <a:ext cx="331927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1161F"/>
                </a:solidFill>
              </a:rPr>
              <a:t>What to read here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Effort per deck drops as formatting moves out of the slide and into the layout.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The fall is steepest once the chart and table styling is standardised in Q3.</a:t>
            </a:r>
            <a:endParaRPr lang="en-US" sz="14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8FA3B0"/>
                </a:solidFill>
              </a:rPr>
              <a:t>Illustrative data for the template demo.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a slide gets made</a:t>
            </a:r>
            <a:endParaRPr lang="en-US" sz="3600" dirty="0"/>
          </a:p>
        </p:txBody>
      </p:sp>
      <p:sp>
        <p:nvSpPr>
          <p:cNvPr id="3" name="token-01"/>
          <p:cNvSpPr/>
          <p:nvPr/>
        </p:nvSpPr>
        <p:spPr>
          <a:xfrm>
            <a:off x="548640" y="169164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6916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Pick the layout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69164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Choose the frame that matches the job of the slide.</a:t>
            </a:r>
            <a:endParaRPr lang="en-US" sz="1400" dirty="0"/>
          </a:p>
        </p:txBody>
      </p:sp>
      <p:sp>
        <p:nvSpPr>
          <p:cNvPr id="7" name="connector-0"/>
          <p:cNvSpPr/>
          <p:nvPr/>
        </p:nvSpPr>
        <p:spPr>
          <a:xfrm>
            <a:off x="786384" y="2194560"/>
            <a:ext cx="0" cy="54864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ysDot"/>
          </a:ln>
        </p:spPr>
      </p:sp>
      <p:sp>
        <p:nvSpPr>
          <p:cNvPr id="8" name="token-02"/>
          <p:cNvSpPr/>
          <p:nvPr/>
        </p:nvSpPr>
        <p:spPr>
          <a:xfrm>
            <a:off x="548640" y="2770632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7063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Fill placeholders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77063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Type into named regions; styling is already decided.</a:t>
            </a:r>
            <a:endParaRPr lang="en-US" sz="1400" dirty="0"/>
          </a:p>
        </p:txBody>
      </p:sp>
      <p:sp>
        <p:nvSpPr>
          <p:cNvPr id="12" name="connector-1"/>
          <p:cNvSpPr/>
          <p:nvPr/>
        </p:nvSpPr>
        <p:spPr>
          <a:xfrm>
            <a:off x="786384" y="3273552"/>
            <a:ext cx="0" cy="54864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ysDot"/>
          </a:ln>
        </p:spPr>
      </p:sp>
      <p:sp>
        <p:nvSpPr>
          <p:cNvPr id="13" name="token-03"/>
          <p:cNvSpPr/>
          <p:nvPr/>
        </p:nvSpPr>
        <p:spPr>
          <a:xfrm>
            <a:off x="548640" y="384962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96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Compose on top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849624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Add cards, stats or a chart in scheme colours.</a:t>
            </a:r>
            <a:endParaRPr lang="en-US" sz="1400" dirty="0"/>
          </a:p>
        </p:txBody>
      </p:sp>
      <p:sp>
        <p:nvSpPr>
          <p:cNvPr id="17" name="connector-2"/>
          <p:cNvSpPr/>
          <p:nvPr/>
        </p:nvSpPr>
        <p:spPr>
          <a:xfrm>
            <a:off x="786384" y="4352544"/>
            <a:ext cx="0" cy="54864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ysDot"/>
          </a:ln>
        </p:spPr>
      </p:sp>
      <p:sp>
        <p:nvSpPr>
          <p:cNvPr id="18" name="token-04"/>
          <p:cNvSpPr/>
          <p:nvPr/>
        </p:nvSpPr>
        <p:spPr>
          <a:xfrm>
            <a:off x="548640" y="4928616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928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9286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Check the theme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4928616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file changes every colour across the deck.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Loose slides versus a system</a:t>
            </a:r>
            <a:endParaRPr lang="en-US" sz="3600" dirty="0"/>
          </a:p>
        </p:txBody>
      </p:sp>
      <p:sp>
        <p:nvSpPr>
          <p:cNvPr id="3" name="col-0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30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0120" y="1874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61F"/>
                </a:solidFill>
              </a:rPr>
              <a:t>Loose slides</a:t>
            </a:r>
            <a:endParaRPr lang="en-US" sz="2000" dirty="0"/>
          </a:p>
        </p:txBody>
      </p:sp>
      <p:sp>
        <p:nvSpPr>
          <p:cNvPr id="5" name="dot-0"/>
          <p:cNvSpPr/>
          <p:nvPr/>
        </p:nvSpPr>
        <p:spPr>
          <a:xfrm>
            <a:off x="960120" y="2395728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6974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</a:rPr>
              <a:t>Styling re-decided every slide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4107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</a:rPr>
              <a:t>Colour changes are manual, slide by slide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12394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</a:rPr>
              <a:t>Charts drift apart visually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837176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</a:rPr>
              <a:t>New contributors guess the rules</a:t>
            </a:r>
            <a:endParaRPr lang="en-US" sz="1400" dirty="0"/>
          </a:p>
        </p:txBody>
      </p:sp>
      <p:sp>
        <p:nvSpPr>
          <p:cNvPr id="10" name="col-1"/>
          <p:cNvSpPr/>
          <p:nvPr/>
        </p:nvSpPr>
        <p:spPr>
          <a:xfrm>
            <a:off x="6263640" y="1600200"/>
            <a:ext cx="5486400" cy="4206240"/>
          </a:xfrm>
          <a:prstGeom prst="roundRect">
            <a:avLst>
              <a:gd name="adj" fmla="val 1304"/>
            </a:avLst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1874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 system</a:t>
            </a:r>
            <a:endParaRPr lang="en-US" sz="2000" dirty="0"/>
          </a:p>
        </p:txBody>
      </p:sp>
      <p:sp>
        <p:nvSpPr>
          <p:cNvPr id="12" name="dot-1"/>
          <p:cNvSpPr/>
          <p:nvPr/>
        </p:nvSpPr>
        <p:spPr>
          <a:xfrm>
            <a:off x="6675120" y="2395728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26974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0"/>
                </a:solidFill>
              </a:rPr>
              <a:t>Layouts carry position and weight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4107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0"/>
                </a:solidFill>
              </a:rPr>
              <a:t>One theme file drives every colour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12394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0"/>
                </a:solidFill>
              </a:rPr>
              <a:t>Charts share one label treatment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837176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0"/>
                </a:solidFill>
              </a:rPr>
              <a:t>New contributors inherit the rules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Layout reference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48072"/>
                <a:gridCol w="3566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Layout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Use it for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Placeholders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Cover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Opening slide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title, body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Section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Resetting attention between topics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body (number), title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Agenda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Previewing the sections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title, body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 only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Any composed content slide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Two column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 beside an image or list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title, body, chart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Two to three headline figures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Chart + commentary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 chart that needs interpreting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title, chart, body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Workflow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Sequential steps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Comparison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Before and after, or option A and B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Table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Dense reference data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Closing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Decision and next steps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title, body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3679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9692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Everything here stays editable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Text, shapes, tables and charts are native PowerPoint objects. Swap the theme and the whole deck follows.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quence">
  <a:themeElements>
    <a:clrScheme name="Sequence">
      <a:dk1>
        <a:srgbClr val="11161F"/>
      </a:dk1>
      <a:lt1>
        <a:srgbClr val="FFFFFF"/>
      </a:lt1>
      <a:dk2>
        <a:srgbClr val="1E2A38"/>
      </a:dk2>
      <a:lt2>
        <a:srgbClr val="F3F6F8"/>
      </a:lt2>
      <a:accent1>
        <a:srgbClr val="0E7C7B"/>
      </a:accent1>
      <a:accent2>
        <a:srgbClr val="E39B3C"/>
      </a:accent2>
      <a:accent3>
        <a:srgbClr val="3F5C6B"/>
      </a:accent3>
      <a:accent4>
        <a:srgbClr val="8FA3B0"/>
      </a:accent4>
      <a:accent5>
        <a:srgbClr val="0A5F5E"/>
      </a:accent5>
      <a:accent6>
        <a:srgbClr val="B4472E"/>
      </a:accent6>
      <a:hlink>
        <a:srgbClr val="0E7C7B"/>
      </a:hlink>
      <a:folHlink>
        <a:srgbClr val="3F5C6B"/>
      </a:folHlink>
    </a:clrScheme>
    <a:fontScheme name="Sequen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Sequence presentation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Sequence — presentation system</dc:title>
  <dc:subject>Reusable branded deck template</dc:subject>
  <dc:creator>Adarsh Subham</dc:creator>
  <cp:lastModifiedBy>Adarsh Subham</cp:lastModifiedBy>
  <cp:revision>1</cp:revision>
  <dcterms:created xsi:type="dcterms:W3CDTF">2026-10-05T16:22:37Z</dcterms:created>
  <dcterms:modified xsi:type="dcterms:W3CDTF">2026-10-05T16:22:37Z</dcterms:modified>
</cp:coreProperties>
</file>